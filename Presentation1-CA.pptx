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0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F9C55-88FA-E4CE-D376-9F54BC4E8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3CDE0E-A6E4-FF87-80A2-CB1A99A0D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964C9-7EEB-5CCE-C0C0-3BF572602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D8B0-62D5-40F7-9A3A-16207A4B1C5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104F3-2414-D882-EF4D-712BF3214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5418B-EBFD-ED2F-3E3B-58E5A427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A345C-5530-486C-B95A-D6CE16FE7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635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22198-0489-9F7B-3E89-9A8C33C59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EE14E-EBED-5C73-5F15-959447B3F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4C6B2-533A-C5F0-17C2-00081E148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D8B0-62D5-40F7-9A3A-16207A4B1C5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43C9C-540D-803D-4CF8-19B194BA2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37A0B-E90C-6174-865A-4B9C99ED1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A345C-5530-486C-B95A-D6CE16FE7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241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FA17E-193D-CA83-D5FF-470DCE8F0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24900-112E-3E0C-5EA7-523C9C9E5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27440-D9DF-17D5-C8AE-7E2546129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D8B0-62D5-40F7-9A3A-16207A4B1C5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6586B-0C45-F5F0-8339-ECD4F47A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3AAD4-2CC6-B087-521A-1E7C46018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A345C-5530-486C-B95A-D6CE16FE7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66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76507-6655-A5D7-E9B9-C8C2EDE5D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7C555-157D-3F23-73EA-8CC62C16B3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87FDDA-C492-2756-2497-4774783E9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04E66-93C5-01F8-12AC-A9345E455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D8B0-62D5-40F7-9A3A-16207A4B1C5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0AC48-9B6E-DDF0-6AB3-921ECD337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B02D4-CD79-9579-E28E-BEC984227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A345C-5530-486C-B95A-D6CE16FE7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71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2B59E-8D00-04FD-33BF-215D2778B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6F39E-153C-50B9-8E12-440223084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FF2D4-C354-6000-174D-0CF3CEA8A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EA1A3-DCDA-9B33-A00A-B9EBDD8499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DFFBE4-2D90-79C1-9B58-2B842A4639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D01292-DFE6-4C51-F8B4-421B5DDD5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D8B0-62D5-40F7-9A3A-16207A4B1C5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40F6D4-B313-8A7A-8C1E-904FE687D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AA7FAE-EDF5-8F79-9361-3810D56C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A345C-5530-486C-B95A-D6CE16FE7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377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A21F5-7393-4BCB-2F7E-58F5C8AC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A2F9F7-E53E-4A3A-6F90-DD5AC37C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D8B0-62D5-40F7-9A3A-16207A4B1C5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FE2EC-EE16-0330-52B5-6B01CAAD0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A7422-ECF3-2BB3-762B-99CCFADC9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A345C-5530-486C-B95A-D6CE16FE7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596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F9B7D-77AB-5594-5C31-230978DBE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D8B0-62D5-40F7-9A3A-16207A4B1C5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425AE-2C62-79C1-0979-8D3981BD3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E07A5-5655-75EF-C38A-EF5EA21EA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A345C-5530-486C-B95A-D6CE16FE7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687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DD2DE-ABD0-676D-83D4-3580F09D0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F180A-BE85-44CB-759B-C61042D4B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5D3B4-2099-4D37-DCF1-8EE922DCD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3D3B9-C110-6003-4766-3FF72EDD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D8B0-62D5-40F7-9A3A-16207A4B1C5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C9E2C-7739-8B03-1ABE-3A928EF21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62CBA-DEF6-D9D0-20EA-C36D4BDAB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A345C-5530-486C-B95A-D6CE16FE7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633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3FABA-77E1-D7A4-26FF-C5493933E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29B4F9-A39E-559F-BDE6-DDC3D0960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EFCB6-4A3F-EB47-20A2-A29F8AF2D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3F8B9-66AE-D7EF-2DC5-3414F69AF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D8B0-62D5-40F7-9A3A-16207A4B1C5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55E67-6AC6-82E0-EF39-68A1303D0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4F755-8837-CDA3-91D3-05FE2EA9C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A345C-5530-486C-B95A-D6CE16FE7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78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4B64-CB65-4E50-E696-C330E8681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4CB50A-ADDA-1973-4A7C-CC20173FF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77ED1-47F9-D329-6E13-CBCAD73B4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D8B0-62D5-40F7-9A3A-16207A4B1C5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CC3AA-3E2D-B9AE-1022-2FE236B50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9EE83-25F4-DD2C-85C2-D33EDDCF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A345C-5530-486C-B95A-D6CE16FE7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53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EBE096-1C33-4B95-E1C1-63BD12C057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C6ACF-E75C-75BD-FC92-09CFD16E4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A3816-BC76-ECAD-4F80-9448D4C5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D8B0-62D5-40F7-9A3A-16207A4B1C5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7D70D-A5A5-B5D4-0634-EDAC33F07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6BFF6-159D-13B2-1946-A66318A3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A345C-5530-486C-B95A-D6CE16FE7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410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3F5210-4D30-C0C8-BBF3-A8515E245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56A79-B748-CCA5-3677-E4116B57A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0DD8F-9331-19C0-0A57-4E6F44C000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2D8B0-62D5-40F7-9A3A-16207A4B1C5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500E1-81D4-1009-F8F7-517DB8278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40E26-EDAD-AB5A-051F-FA838E167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A345C-5530-486C-B95A-D6CE16FE7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585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07AC51-4161-F047-6650-7F43D0475CB3}"/>
              </a:ext>
            </a:extLst>
          </p:cNvPr>
          <p:cNvSpPr txBox="1"/>
          <p:nvPr/>
        </p:nvSpPr>
        <p:spPr>
          <a:xfrm>
            <a:off x="1641987" y="2102408"/>
            <a:ext cx="99600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Instruction Execution Cycle and CPU Performance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64203A9D-06E0-DF37-F70B-BE2EDFF64E7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2387" y="417323"/>
            <a:ext cx="9842090" cy="10771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D57C25-CA56-8E06-190D-EA16749151E5}"/>
              </a:ext>
            </a:extLst>
          </p:cNvPr>
          <p:cNvSpPr txBox="1"/>
          <p:nvPr/>
        </p:nvSpPr>
        <p:spPr>
          <a:xfrm>
            <a:off x="3559277" y="3198167"/>
            <a:ext cx="6302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CSA1221-Computer Architecture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C1E532-A3DF-34FD-DB2D-CAE682AC7DED}"/>
              </a:ext>
            </a:extLst>
          </p:cNvPr>
          <p:cNvSpPr txBox="1"/>
          <p:nvPr/>
        </p:nvSpPr>
        <p:spPr>
          <a:xfrm>
            <a:off x="8417724" y="5171117"/>
            <a:ext cx="3774276" cy="1150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MUTHUPRIYA R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(192421002)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DA1A1C-8370-8B7C-FFAD-53D9B7068570}"/>
              </a:ext>
            </a:extLst>
          </p:cNvPr>
          <p:cNvSpPr txBox="1"/>
          <p:nvPr/>
        </p:nvSpPr>
        <p:spPr>
          <a:xfrm>
            <a:off x="771832" y="4649984"/>
            <a:ext cx="6243484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l"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VIJAYA BHASKAR K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115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123878948;p1">
            <a:extLst>
              <a:ext uri="{FF2B5EF4-FFF2-40B4-BE49-F238E27FC236}">
                <a16:creationId xmlns:a16="http://schemas.microsoft.com/office/drawing/2014/main" id="{92AFE6E0-634A-6371-E3B5-FF09FFB4A8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5975" y="212360"/>
            <a:ext cx="1004726" cy="83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F6A4B6E8-8841-994E-69DC-936E31E32E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5939" y="160310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4F6EEA-5328-DEBB-5191-F6ED045F34CA}"/>
              </a:ext>
            </a:extLst>
          </p:cNvPr>
          <p:cNvSpPr txBox="1"/>
          <p:nvPr/>
        </p:nvSpPr>
        <p:spPr>
          <a:xfrm>
            <a:off x="4424516" y="63398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DE6135A5-99E9-9DC2-15FD-C63E1A85F99D}"/>
              </a:ext>
            </a:extLst>
          </p:cNvPr>
          <p:cNvSpPr/>
          <p:nvPr/>
        </p:nvSpPr>
        <p:spPr>
          <a:xfrm>
            <a:off x="2094271" y="1635347"/>
            <a:ext cx="7275871" cy="4588674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4CFBE0-E41E-EC9A-8C56-00CFE9670936}"/>
              </a:ext>
            </a:extLst>
          </p:cNvPr>
          <p:cNvSpPr txBox="1"/>
          <p:nvPr/>
        </p:nvSpPr>
        <p:spPr>
          <a:xfrm>
            <a:off x="2352367" y="2227166"/>
            <a:ext cx="6931742" cy="3405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the Instruction Execution Cycle?</a:t>
            </a:r>
          </a:p>
          <a:p>
            <a:pPr marL="285750" marR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Instruction Execution Cycle is the process the CPU follows to execute a program.</a:t>
            </a:r>
          </a:p>
          <a:p>
            <a:pPr marL="285750" marR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three main stages:</a:t>
            </a:r>
          </a:p>
          <a:p>
            <a:pPr marL="0" marR="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  <a:endParaRPr lang="en-IN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Decode</a:t>
            </a:r>
            <a:endParaRPr lang="en-IN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endParaRPr lang="en-IN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cycle repeats until all program instructions are completed</a:t>
            </a:r>
            <a:r>
              <a:rPr lang="en-IN" sz="1200" b="0" i="0" dirty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865A3CAB-D2B6-CAEB-9C97-473EF9CF58A2}"/>
              </a:ext>
            </a:extLst>
          </p:cNvPr>
          <p:cNvSpPr/>
          <p:nvPr/>
        </p:nvSpPr>
        <p:spPr>
          <a:xfrm>
            <a:off x="1777967" y="1635347"/>
            <a:ext cx="488368" cy="4588674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AEF7A070-E802-B72B-ECE3-483491CD6E18}"/>
              </a:ext>
            </a:extLst>
          </p:cNvPr>
          <p:cNvSpPr/>
          <p:nvPr/>
        </p:nvSpPr>
        <p:spPr>
          <a:xfrm>
            <a:off x="452530" y="1237048"/>
            <a:ext cx="11503495" cy="6081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1573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6FEEE-89EC-4399-BB5D-148C0E5C7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123878948;p1">
            <a:extLst>
              <a:ext uri="{FF2B5EF4-FFF2-40B4-BE49-F238E27FC236}">
                <a16:creationId xmlns:a16="http://schemas.microsoft.com/office/drawing/2014/main" id="{229DFDC0-299C-DF44-6556-20FF77D03D6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8422" y="245810"/>
            <a:ext cx="1004726" cy="83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5CD78300-D463-29CF-B0B8-DF00E2E5F6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73492" y="160310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0CCC6285-9503-D5F1-CE7B-4DCBB0E1E370}"/>
              </a:ext>
            </a:extLst>
          </p:cNvPr>
          <p:cNvSpPr/>
          <p:nvPr/>
        </p:nvSpPr>
        <p:spPr>
          <a:xfrm flipV="1">
            <a:off x="482028" y="1288026"/>
            <a:ext cx="11011882" cy="6208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6AF72C7-94F5-95AB-2D50-91BB60213228}"/>
              </a:ext>
            </a:extLst>
          </p:cNvPr>
          <p:cNvSpPr/>
          <p:nvPr/>
        </p:nvSpPr>
        <p:spPr>
          <a:xfrm>
            <a:off x="0" y="1350106"/>
            <a:ext cx="482012" cy="534330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7745265B-67C0-6B46-FD6C-1A5426FD3B5B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E4E88C55-8392-E6A3-BF31-4C457C905299}"/>
              </a:ext>
            </a:extLst>
          </p:cNvPr>
          <p:cNvSpPr/>
          <p:nvPr/>
        </p:nvSpPr>
        <p:spPr>
          <a:xfrm>
            <a:off x="0" y="0"/>
            <a:ext cx="12192000" cy="16031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21DA0B-150C-3664-36CA-FA0D8DA212B9}"/>
              </a:ext>
            </a:extLst>
          </p:cNvPr>
          <p:cNvSpPr/>
          <p:nvPr/>
        </p:nvSpPr>
        <p:spPr>
          <a:xfrm>
            <a:off x="4729316" y="1665150"/>
            <a:ext cx="2349910" cy="4327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in Memory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895C7E-D058-363E-B942-D3F961301500}"/>
              </a:ext>
            </a:extLst>
          </p:cNvPr>
          <p:cNvSpPr/>
          <p:nvPr/>
        </p:nvSpPr>
        <p:spPr>
          <a:xfrm>
            <a:off x="4670322" y="2534265"/>
            <a:ext cx="2408903" cy="381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Fetch Instruction</a:t>
            </a:r>
            <a:br>
              <a:rPr lang="en-IN" dirty="0"/>
            </a:b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07024B-073B-EF86-ABA9-B2B2A67141AF}"/>
              </a:ext>
            </a:extLst>
          </p:cNvPr>
          <p:cNvSpPr/>
          <p:nvPr/>
        </p:nvSpPr>
        <p:spPr>
          <a:xfrm>
            <a:off x="4670321" y="3497372"/>
            <a:ext cx="2408903" cy="43306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Decode Instruction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5FD247-A75E-4FB2-5862-EF3F9123A480}"/>
              </a:ext>
            </a:extLst>
          </p:cNvPr>
          <p:cNvSpPr/>
          <p:nvPr/>
        </p:nvSpPr>
        <p:spPr>
          <a:xfrm>
            <a:off x="4670320" y="4427762"/>
            <a:ext cx="2408903" cy="4330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 </a:t>
            </a:r>
          </a:p>
          <a:p>
            <a:r>
              <a:rPr lang="en-IN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Execute Instruction</a:t>
            </a:r>
            <a:br>
              <a:rPr lang="en-IN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A32CBD-B1B0-4599-7D7C-EF476FD4F5C1}"/>
              </a:ext>
            </a:extLst>
          </p:cNvPr>
          <p:cNvSpPr/>
          <p:nvPr/>
        </p:nvSpPr>
        <p:spPr>
          <a:xfrm>
            <a:off x="4670322" y="5299587"/>
            <a:ext cx="2408902" cy="38665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Store Result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F17A6E-C56D-93BE-D333-B2B4F9173123}"/>
              </a:ext>
            </a:extLst>
          </p:cNvPr>
          <p:cNvSpPr/>
          <p:nvPr/>
        </p:nvSpPr>
        <p:spPr>
          <a:xfrm>
            <a:off x="4699820" y="6125003"/>
            <a:ext cx="2408902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Next Instruction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58F558-B29E-4768-90FA-8F2933E8E000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5874774" y="2097862"/>
            <a:ext cx="29497" cy="4364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A36F22F-B25F-D97D-4727-6804D27D4C21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5874773" y="2915265"/>
            <a:ext cx="1" cy="5821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F333125-67A6-8544-1F58-6021A727E13E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flipH="1">
            <a:off x="5874772" y="3930440"/>
            <a:ext cx="1" cy="4973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7BAC73C-FC29-6C68-F78E-8333F5B3400D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5874772" y="4860830"/>
            <a:ext cx="1" cy="438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239422-9A50-73D0-47B0-0B5ECE973844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>
            <a:off x="5874773" y="5686246"/>
            <a:ext cx="29498" cy="4387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CAEBC73-044D-5A85-52BD-CA0186CB33FD}"/>
              </a:ext>
            </a:extLst>
          </p:cNvPr>
          <p:cNvSpPr txBox="1"/>
          <p:nvPr/>
        </p:nvSpPr>
        <p:spPr>
          <a:xfrm>
            <a:off x="4778475" y="553162"/>
            <a:ext cx="230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664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70153-3E34-5D5B-0185-731228F0B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123878948;p1">
            <a:extLst>
              <a:ext uri="{FF2B5EF4-FFF2-40B4-BE49-F238E27FC236}">
                <a16:creationId xmlns:a16="http://schemas.microsoft.com/office/drawing/2014/main" id="{E05181C3-464A-4726-A93B-CC4446CC788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8422" y="245810"/>
            <a:ext cx="1004726" cy="83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02CA23FA-EF8D-AAB8-E0F0-76A424CFD6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73492" y="160310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AD4D8D45-1A4E-BF7E-0875-44BE74154D1F}"/>
              </a:ext>
            </a:extLst>
          </p:cNvPr>
          <p:cNvSpPr/>
          <p:nvPr/>
        </p:nvSpPr>
        <p:spPr>
          <a:xfrm flipV="1">
            <a:off x="482028" y="1288026"/>
            <a:ext cx="11011882" cy="6208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D9313A2-BADA-A499-9A3C-350F1FA8F283}"/>
              </a:ext>
            </a:extLst>
          </p:cNvPr>
          <p:cNvSpPr/>
          <p:nvPr/>
        </p:nvSpPr>
        <p:spPr>
          <a:xfrm>
            <a:off x="2458064" y="1753334"/>
            <a:ext cx="7275871" cy="4034780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AC67201-0FC2-E115-0162-B1C6EA51B5E7}"/>
              </a:ext>
            </a:extLst>
          </p:cNvPr>
          <p:cNvSpPr/>
          <p:nvPr/>
        </p:nvSpPr>
        <p:spPr>
          <a:xfrm>
            <a:off x="1969696" y="1753334"/>
            <a:ext cx="488367" cy="4018412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2E0143A1-99B1-AD2E-289C-5A43FCC54222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C569524D-9369-E085-03B8-E6A9096E775C}"/>
              </a:ext>
            </a:extLst>
          </p:cNvPr>
          <p:cNvSpPr/>
          <p:nvPr/>
        </p:nvSpPr>
        <p:spPr>
          <a:xfrm>
            <a:off x="0" y="0"/>
            <a:ext cx="12192000" cy="16031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8A2BB4-2ADC-5185-D03C-03E4D5FE70C9}"/>
              </a:ext>
            </a:extLst>
          </p:cNvPr>
          <p:cNvSpPr txBox="1"/>
          <p:nvPr/>
        </p:nvSpPr>
        <p:spPr>
          <a:xfrm>
            <a:off x="3738716" y="627579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300"/>
              </a:spcAft>
              <a:buNone/>
            </a:pPr>
            <a:r>
              <a:rPr lang="en-IN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FETCH STAGE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A618E0-D067-2A09-112A-B3D10FE784A6}"/>
              </a:ext>
            </a:extLst>
          </p:cNvPr>
          <p:cNvSpPr txBox="1"/>
          <p:nvPr/>
        </p:nvSpPr>
        <p:spPr>
          <a:xfrm>
            <a:off x="3045541" y="2412158"/>
            <a:ext cx="6100916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 Counter (PC) stores the address of the next instruction.</a:t>
            </a:r>
          </a:p>
          <a:p>
            <a:pPr marL="285750" marR="0" indent="-28575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Address is sent to memory.</a:t>
            </a:r>
          </a:p>
          <a:p>
            <a:pPr marL="285750" marR="0" indent="-28575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Instruction is fetched into the Instruction Register (IR).</a:t>
            </a:r>
          </a:p>
          <a:p>
            <a:pPr marL="285750" marR="0" indent="-28575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 is updated to the next instruction.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Address: 2000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Instruction: ADD R1, R2</a:t>
            </a:r>
            <a:endParaRPr lang="en-IN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851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61A73-4FE6-4085-D742-9A15E9B9A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123878948;p1">
            <a:extLst>
              <a:ext uri="{FF2B5EF4-FFF2-40B4-BE49-F238E27FC236}">
                <a16:creationId xmlns:a16="http://schemas.microsoft.com/office/drawing/2014/main" id="{EAFAC881-01B4-49C2-0DFE-DB3BD9FBDE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8422" y="245810"/>
            <a:ext cx="1004726" cy="83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50B515B3-F8F1-14D1-B9AA-1AC66F8E806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73492" y="160310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45807423-C8B2-83E6-FEDC-F4296A43AD69}"/>
              </a:ext>
            </a:extLst>
          </p:cNvPr>
          <p:cNvSpPr/>
          <p:nvPr/>
        </p:nvSpPr>
        <p:spPr>
          <a:xfrm flipV="1">
            <a:off x="482028" y="1288026"/>
            <a:ext cx="11011882" cy="6208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71B389D-B0BF-8024-8494-0720CBE2C823}"/>
              </a:ext>
            </a:extLst>
          </p:cNvPr>
          <p:cNvSpPr/>
          <p:nvPr/>
        </p:nvSpPr>
        <p:spPr>
          <a:xfrm>
            <a:off x="2458065" y="1753334"/>
            <a:ext cx="6909620" cy="4799766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DC1E1A4-BD25-76E5-408C-617CB9FD4611}"/>
              </a:ext>
            </a:extLst>
          </p:cNvPr>
          <p:cNvSpPr/>
          <p:nvPr/>
        </p:nvSpPr>
        <p:spPr>
          <a:xfrm>
            <a:off x="1969696" y="1753334"/>
            <a:ext cx="488369" cy="4799766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3D93DF1C-466A-49D8-50BF-72A7F2712617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A7CEA85C-700D-3D68-43E5-E4BE9ECD757B}"/>
              </a:ext>
            </a:extLst>
          </p:cNvPr>
          <p:cNvSpPr/>
          <p:nvPr/>
        </p:nvSpPr>
        <p:spPr>
          <a:xfrm>
            <a:off x="0" y="0"/>
            <a:ext cx="12192000" cy="16031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FA23DD-DF00-8F38-D894-267053D44B88}"/>
              </a:ext>
            </a:extLst>
          </p:cNvPr>
          <p:cNvSpPr txBox="1"/>
          <p:nvPr/>
        </p:nvSpPr>
        <p:spPr>
          <a:xfrm>
            <a:off x="3738716" y="627579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DECODE AND EXECUTE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DAD956-E14A-B184-AA6D-19482C838653}"/>
              </a:ext>
            </a:extLst>
          </p:cNvPr>
          <p:cNvSpPr txBox="1"/>
          <p:nvPr/>
        </p:nvSpPr>
        <p:spPr>
          <a:xfrm>
            <a:off x="2598173" y="1753334"/>
            <a:ext cx="6100916" cy="3181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Decode</a:t>
            </a:r>
          </a:p>
          <a:p>
            <a:pPr marL="285750" marR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Unit interprets the instruction.</a:t>
            </a:r>
          </a:p>
          <a:p>
            <a:pPr marL="285750" marR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Determines required operation.</a:t>
            </a:r>
          </a:p>
          <a:p>
            <a:pPr marL="285750" marR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operands.</a:t>
            </a:r>
          </a:p>
          <a:p>
            <a:pPr marL="0" marR="0" indent="0" algn="just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</a:p>
          <a:p>
            <a:pPr marL="285750" marR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ALU performs arithmetic or logical operation.</a:t>
            </a:r>
          </a:p>
          <a:p>
            <a:pPr marL="285750" marR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 is stored in a register or memory.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A125D2-A81C-978C-197E-2531AD0B4815}"/>
              </a:ext>
            </a:extLst>
          </p:cNvPr>
          <p:cNvSpPr txBox="1"/>
          <p:nvPr/>
        </p:nvSpPr>
        <p:spPr>
          <a:xfrm>
            <a:off x="2541637" y="5015293"/>
            <a:ext cx="61009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Instruction :ADD R1,R2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If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R1 = 10, R2 = 5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Result: R1 = 15</a:t>
            </a:r>
          </a:p>
        </p:txBody>
      </p:sp>
    </p:spTree>
    <p:extLst>
      <p:ext uri="{BB962C8B-B14F-4D97-AF65-F5344CB8AC3E}">
        <p14:creationId xmlns:p14="http://schemas.microsoft.com/office/powerpoint/2010/main" val="2452551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048ED-F9A2-A436-83B4-60ACE9D5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123878948;p1">
            <a:extLst>
              <a:ext uri="{FF2B5EF4-FFF2-40B4-BE49-F238E27FC236}">
                <a16:creationId xmlns:a16="http://schemas.microsoft.com/office/drawing/2014/main" id="{C81B3348-CE4C-9682-36F5-C166870F514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8422" y="245810"/>
            <a:ext cx="1004726" cy="83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885DC26B-203D-E4AA-669A-1CF414E5E3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73492" y="160310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2E19F45D-0BC3-6D7B-35DC-5C96297AFFD1}"/>
              </a:ext>
            </a:extLst>
          </p:cNvPr>
          <p:cNvSpPr/>
          <p:nvPr/>
        </p:nvSpPr>
        <p:spPr>
          <a:xfrm flipV="1">
            <a:off x="482028" y="1288026"/>
            <a:ext cx="11011882" cy="6208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2C0A2AC-0A6F-47E2-94B5-9A9CE43C8F5C}"/>
              </a:ext>
            </a:extLst>
          </p:cNvPr>
          <p:cNvSpPr/>
          <p:nvPr/>
        </p:nvSpPr>
        <p:spPr>
          <a:xfrm>
            <a:off x="2458063" y="1736966"/>
            <a:ext cx="7381569" cy="4270544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B3B8941-3E40-D4BB-0AE8-46914DC9A90E}"/>
              </a:ext>
            </a:extLst>
          </p:cNvPr>
          <p:cNvSpPr/>
          <p:nvPr/>
        </p:nvSpPr>
        <p:spPr>
          <a:xfrm>
            <a:off x="1969696" y="1753334"/>
            <a:ext cx="488367" cy="4254176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4A907B79-428A-44B4-EE5F-99CBEF5CB938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B656016F-B0FD-4EA4-FFEE-4F83E9CD7597}"/>
              </a:ext>
            </a:extLst>
          </p:cNvPr>
          <p:cNvSpPr/>
          <p:nvPr/>
        </p:nvSpPr>
        <p:spPr>
          <a:xfrm>
            <a:off x="0" y="0"/>
            <a:ext cx="12192000" cy="16031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97A2AA-38A9-9887-180B-52204D425371}"/>
              </a:ext>
            </a:extLst>
          </p:cNvPr>
          <p:cNvSpPr txBox="1"/>
          <p:nvPr/>
        </p:nvSpPr>
        <p:spPr>
          <a:xfrm>
            <a:off x="3738716" y="627579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PERFORMANCE METRICS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EEAEB4-F63D-8792-841C-386A851A2A36}"/>
              </a:ext>
            </a:extLst>
          </p:cNvPr>
          <p:cNvSpPr txBox="1"/>
          <p:nvPr/>
        </p:nvSpPr>
        <p:spPr>
          <a:xfrm>
            <a:off x="2608007" y="1910650"/>
            <a:ext cx="6100916" cy="401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Clock Cycle</a:t>
            </a:r>
          </a:p>
          <a:p>
            <a:pPr marL="285750" marR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Smallest unit of CPU operation.</a:t>
            </a:r>
          </a:p>
          <a:p>
            <a:pPr marL="285750" marR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Measured in GHz.</a:t>
            </a:r>
          </a:p>
          <a:p>
            <a:pPr marL="0" marR="0" indent="0" algn="just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CPI (Cycles Per Instruction)</a:t>
            </a:r>
          </a:p>
          <a:p>
            <a:pPr marL="285750" marR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number of clock cycles needed for one instruction.</a:t>
            </a:r>
          </a:p>
          <a:p>
            <a:pPr marR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 CPI = Total Clock Cycles</a:t>
            </a:r>
          </a:p>
          <a:p>
            <a:pPr marR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Total Instructions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Execution Time</a:t>
            </a:r>
          </a:p>
          <a:p>
            <a:pPr marR="0" algn="just">
              <a:lnSpc>
                <a:spcPct val="150000"/>
              </a:lnSpc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 = Instruction Count × CPI × Clock Cycle Time</a:t>
            </a:r>
            <a:endParaRPr lang="en-IN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BCF9FEC-8CCE-EE18-74C7-D49D645E17B6}"/>
              </a:ext>
            </a:extLst>
          </p:cNvPr>
          <p:cNvCxnSpPr/>
          <p:nvPr/>
        </p:nvCxnSpPr>
        <p:spPr>
          <a:xfrm>
            <a:off x="4316363" y="4709652"/>
            <a:ext cx="177963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629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B236A-0374-446A-271D-48EF5E322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123878948;p1">
            <a:extLst>
              <a:ext uri="{FF2B5EF4-FFF2-40B4-BE49-F238E27FC236}">
                <a16:creationId xmlns:a16="http://schemas.microsoft.com/office/drawing/2014/main" id="{8A211CDF-C984-1098-D048-3C775306A33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8422" y="245810"/>
            <a:ext cx="1004726" cy="83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648BF0E1-75FA-3E85-45DF-570F86D132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73492" y="160310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48113965-2013-1410-D104-DBCE3705229E}"/>
              </a:ext>
            </a:extLst>
          </p:cNvPr>
          <p:cNvSpPr/>
          <p:nvPr/>
        </p:nvSpPr>
        <p:spPr>
          <a:xfrm flipV="1">
            <a:off x="482028" y="1288026"/>
            <a:ext cx="11011882" cy="6208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2D750D4-5102-3AC0-6D28-A729D4F16A37}"/>
              </a:ext>
            </a:extLst>
          </p:cNvPr>
          <p:cNvSpPr/>
          <p:nvPr/>
        </p:nvSpPr>
        <p:spPr>
          <a:xfrm>
            <a:off x="2458064" y="2278514"/>
            <a:ext cx="7256207" cy="2922751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6C34101-A64E-073D-4182-3EDAE92F23BE}"/>
              </a:ext>
            </a:extLst>
          </p:cNvPr>
          <p:cNvSpPr/>
          <p:nvPr/>
        </p:nvSpPr>
        <p:spPr>
          <a:xfrm>
            <a:off x="2281084" y="2278514"/>
            <a:ext cx="471948" cy="2922751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D8ADA8E3-8E7B-2C6E-D29C-0D64AA073C90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9C688C5F-55E8-4B45-400D-F4C71C2F31CE}"/>
              </a:ext>
            </a:extLst>
          </p:cNvPr>
          <p:cNvSpPr/>
          <p:nvPr/>
        </p:nvSpPr>
        <p:spPr>
          <a:xfrm>
            <a:off x="0" y="0"/>
            <a:ext cx="12192000" cy="16031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535FC2-B1B9-209F-AA6B-288597CB6EDE}"/>
              </a:ext>
            </a:extLst>
          </p:cNvPr>
          <p:cNvSpPr txBox="1"/>
          <p:nvPr/>
        </p:nvSpPr>
        <p:spPr>
          <a:xfrm>
            <a:off x="3738716" y="627579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INEFFICIENCIES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950F25-B579-73A0-808F-A24E76E03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99344"/>
              </p:ext>
            </p:extLst>
          </p:nvPr>
        </p:nvGraphicFramePr>
        <p:xfrm>
          <a:off x="3147157" y="3134047"/>
          <a:ext cx="5897683" cy="1463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79877">
                  <a:extLst>
                    <a:ext uri="{9D8B030D-6E8A-4147-A177-3AD203B41FA5}">
                      <a16:colId xmlns:a16="http://schemas.microsoft.com/office/drawing/2014/main" val="2607816843"/>
                    </a:ext>
                  </a:extLst>
                </a:gridCol>
                <a:gridCol w="2497393">
                  <a:extLst>
                    <a:ext uri="{9D8B030D-6E8A-4147-A177-3AD203B41FA5}">
                      <a16:colId xmlns:a16="http://schemas.microsoft.com/office/drawing/2014/main" val="1739007108"/>
                    </a:ext>
                  </a:extLst>
                </a:gridCol>
                <a:gridCol w="2320413">
                  <a:extLst>
                    <a:ext uri="{9D8B030D-6E8A-4147-A177-3AD203B41FA5}">
                      <a16:colId xmlns:a16="http://schemas.microsoft.com/office/drawing/2014/main" val="2176598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532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waits longer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240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instruction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decoding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8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 ALU or cache miss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execution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891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0516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7909F-4D10-D086-BB3A-24ED2162C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123878948;p1">
            <a:extLst>
              <a:ext uri="{FF2B5EF4-FFF2-40B4-BE49-F238E27FC236}">
                <a16:creationId xmlns:a16="http://schemas.microsoft.com/office/drawing/2014/main" id="{5672584C-48D6-40C7-77CB-E5567CC0701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8422" y="245810"/>
            <a:ext cx="1004726" cy="83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23878949;p1">
            <a:extLst>
              <a:ext uri="{FF2B5EF4-FFF2-40B4-BE49-F238E27FC236}">
                <a16:creationId xmlns:a16="http://schemas.microsoft.com/office/drawing/2014/main" id="{622E4489-49F1-D463-258F-6AACCC67BA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73492" y="160310"/>
            <a:ext cx="1140086" cy="100716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2C8D84D9-7993-F921-4D39-B94AD20D387E}"/>
              </a:ext>
            </a:extLst>
          </p:cNvPr>
          <p:cNvSpPr/>
          <p:nvPr/>
        </p:nvSpPr>
        <p:spPr>
          <a:xfrm flipV="1">
            <a:off x="482028" y="1288026"/>
            <a:ext cx="11011882" cy="6208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4FCC6D9-7804-DB16-9E73-06C879243D7A}"/>
              </a:ext>
            </a:extLst>
          </p:cNvPr>
          <p:cNvSpPr/>
          <p:nvPr/>
        </p:nvSpPr>
        <p:spPr>
          <a:xfrm>
            <a:off x="2458064" y="1753333"/>
            <a:ext cx="7639665" cy="4560369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FF48896-2F10-53FB-9100-09E4216C562B}"/>
              </a:ext>
            </a:extLst>
          </p:cNvPr>
          <p:cNvSpPr/>
          <p:nvPr/>
        </p:nvSpPr>
        <p:spPr>
          <a:xfrm>
            <a:off x="2172929" y="1753332"/>
            <a:ext cx="453512" cy="4580659"/>
          </a:xfrm>
          <a:prstGeom prst="rect">
            <a:avLst/>
          </a:prstGeom>
          <a:solidFill>
            <a:schemeClr val="tx1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86E4EDC-AD68-BE7F-7CFB-14D759CDC085}"/>
              </a:ext>
            </a:extLst>
          </p:cNvPr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F7E22E9E-2EFA-2FD2-D184-681C3A6AB783}"/>
              </a:ext>
            </a:extLst>
          </p:cNvPr>
          <p:cNvSpPr/>
          <p:nvPr/>
        </p:nvSpPr>
        <p:spPr>
          <a:xfrm>
            <a:off x="0" y="0"/>
            <a:ext cx="12192000" cy="16031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E2CFE4-1CE9-B01E-C768-AE482BBDFF81}"/>
              </a:ext>
            </a:extLst>
          </p:cNvPr>
          <p:cNvSpPr txBox="1"/>
          <p:nvPr/>
        </p:nvSpPr>
        <p:spPr>
          <a:xfrm>
            <a:off x="4692445" y="544297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648E09-C018-61B9-097A-949E8AEA21A4}"/>
              </a:ext>
            </a:extLst>
          </p:cNvPr>
          <p:cNvSpPr txBox="1"/>
          <p:nvPr/>
        </p:nvSpPr>
        <p:spPr>
          <a:xfrm>
            <a:off x="2626441" y="1809676"/>
            <a:ext cx="730291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 executes instructions using </a:t>
            </a: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Fetch → Decode → Execute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 performance depends on:</a:t>
            </a:r>
          </a:p>
          <a:p>
            <a:pPr marL="0" marR="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Clock Cycles</a:t>
            </a:r>
          </a:p>
          <a:p>
            <a:pPr marL="0" marR="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CPI</a:t>
            </a:r>
          </a:p>
          <a:p>
            <a:pPr marL="0" marR="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</a:t>
            </a:r>
          </a:p>
          <a:p>
            <a:pPr marL="285750" marR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Reducing delays in any stage improves system performance.</a:t>
            </a:r>
          </a:p>
          <a:p>
            <a:pPr marL="285750" marR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instruction execution leads to faster program execution.</a:t>
            </a:r>
            <a:endParaRPr lang="en-IN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optimized instruction execution cycle improves CPU efficiency, reduces execution time, and enhances overall computer system performance.</a:t>
            </a:r>
          </a:p>
          <a:p>
            <a:endParaRPr lang="en-IN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777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21DA74-1BBD-ACE6-F0BF-E1FC321E0DF6}"/>
              </a:ext>
            </a:extLst>
          </p:cNvPr>
          <p:cNvSpPr txBox="1"/>
          <p:nvPr/>
        </p:nvSpPr>
        <p:spPr>
          <a:xfrm>
            <a:off x="4621162" y="2898076"/>
            <a:ext cx="32544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856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348</Words>
  <Application>Microsoft Office PowerPoint</Application>
  <PresentationFormat>Widescreen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-apple-system-body</vt:lpstr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Muthupriya R</dc:creator>
  <cp:lastModifiedBy>Muthupriya R</cp:lastModifiedBy>
  <cp:revision>1</cp:revision>
  <dcterms:created xsi:type="dcterms:W3CDTF">2026-07-23T02:44:30Z</dcterms:created>
  <dcterms:modified xsi:type="dcterms:W3CDTF">2026-07-23T03:30:53Z</dcterms:modified>
</cp:coreProperties>
</file>